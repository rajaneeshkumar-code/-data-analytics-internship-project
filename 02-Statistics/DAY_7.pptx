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8"/>
  </p:notesMasterIdLst>
  <p:sldIdLst>
    <p:sldId id="429" r:id="rId2"/>
    <p:sldId id="430" r:id="rId3"/>
    <p:sldId id="426" r:id="rId4"/>
    <p:sldId id="428" r:id="rId5"/>
    <p:sldId id="431" r:id="rId6"/>
    <p:sldId id="432" r:id="rId7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Libre Franklin" panose="020F0502020204030204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D24C48-29CA-40D2-8D6E-779B6ABAC455}">
  <a:tblStyle styleId="{5AD24C48-29CA-40D2-8D6E-779B6ABAC4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40" y="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-5400454">
            <a:off x="6015293" y="166500"/>
            <a:ext cx="4545900" cy="1710900"/>
          </a:xfrm>
          <a:prstGeom prst="triangle">
            <a:avLst>
              <a:gd name="adj" fmla="val 5228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/>
          <p:nvPr/>
        </p:nvSpPr>
        <p:spPr>
          <a:xfrm rot="5400000">
            <a:off x="-468300" y="4683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4635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540000" y="1544250"/>
            <a:ext cx="8100000" cy="28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9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1502-B23F-F899-EAB5-B61DF2880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00" y="127506"/>
            <a:ext cx="8100000" cy="786894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>
                <a:latin typeface="Cambria" panose="02040503050406030204" pitchFamily="18" charset="0"/>
                <a:ea typeface="Cambria" panose="02040503050406030204" pitchFamily="18" charset="0"/>
              </a:rPr>
              <a:t>Permutation (ORDER matters)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CF40B-0248-E95A-F836-ED4523386FD4}"/>
              </a:ext>
            </a:extLst>
          </p:cNvPr>
          <p:cNvSpPr txBox="1"/>
          <p:nvPr/>
        </p:nvSpPr>
        <p:spPr>
          <a:xfrm>
            <a:off x="672318" y="914400"/>
            <a:ext cx="79496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Definition:</a:t>
            </a:r>
          </a:p>
          <a:p>
            <a:pPr>
              <a:buNone/>
            </a:pPr>
            <a:r>
              <a:rPr lang="en-US" sz="1800" dirty="0"/>
              <a:t>	Permutation counts how many ways you can arrange things when the order is important.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47D30-1843-2D19-B4E1-B334D76E98B1}"/>
              </a:ext>
            </a:extLst>
          </p:cNvPr>
          <p:cNvSpPr txBox="1"/>
          <p:nvPr/>
        </p:nvSpPr>
        <p:spPr>
          <a:xfrm>
            <a:off x="672318" y="1876673"/>
            <a:ext cx="718457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🎯 Real Example:</a:t>
            </a:r>
          </a:p>
          <a:p>
            <a:pPr>
              <a:buNone/>
            </a:pPr>
            <a:r>
              <a:rPr lang="en-US" sz="1800" dirty="0"/>
              <a:t>You’re creating a </a:t>
            </a:r>
            <a:r>
              <a:rPr lang="en-US" sz="1800" b="1" dirty="0"/>
              <a:t>3-digit password</a:t>
            </a:r>
            <a:r>
              <a:rPr lang="en-US" sz="1800" dirty="0"/>
              <a:t> using the numbers 1, 2, and 3.</a:t>
            </a:r>
          </a:p>
          <a:p>
            <a:pPr>
              <a:buNone/>
            </a:pPr>
            <a:r>
              <a:rPr lang="en-US" sz="1800" dirty="0"/>
              <a:t>Possible arrangements (order matters):</a:t>
            </a:r>
          </a:p>
          <a:p>
            <a:pPr lvl="2"/>
            <a:r>
              <a:rPr lang="en-US" sz="1800" dirty="0"/>
              <a:t>	</a:t>
            </a:r>
            <a:r>
              <a:rPr lang="en-US" sz="1800" b="1" dirty="0"/>
              <a:t> - </a:t>
            </a:r>
            <a:r>
              <a:rPr lang="en-US" sz="1800" dirty="0"/>
              <a:t>123</a:t>
            </a:r>
          </a:p>
          <a:p>
            <a:r>
              <a:rPr lang="en-US" sz="1800" dirty="0"/>
              <a:t>	 </a:t>
            </a:r>
            <a:r>
              <a:rPr lang="en-US" sz="1800" b="1" dirty="0"/>
              <a:t>- </a:t>
            </a:r>
            <a:r>
              <a:rPr lang="en-US" sz="1800" dirty="0"/>
              <a:t>132</a:t>
            </a:r>
          </a:p>
          <a:p>
            <a:r>
              <a:rPr lang="en-US" sz="1800" dirty="0"/>
              <a:t>	</a:t>
            </a:r>
            <a:r>
              <a:rPr lang="en-US" sz="1800" b="1" dirty="0"/>
              <a:t> - </a:t>
            </a:r>
            <a:r>
              <a:rPr lang="en-US" sz="1800" dirty="0"/>
              <a:t>213</a:t>
            </a:r>
          </a:p>
          <a:p>
            <a:r>
              <a:rPr lang="en-US" sz="1800" dirty="0"/>
              <a:t>	</a:t>
            </a:r>
            <a:r>
              <a:rPr lang="en-US" sz="1800" b="1" dirty="0"/>
              <a:t> - </a:t>
            </a:r>
            <a:r>
              <a:rPr lang="en-US" sz="1800" dirty="0"/>
              <a:t>231</a:t>
            </a:r>
          </a:p>
          <a:p>
            <a:r>
              <a:rPr lang="en-US" sz="1800" dirty="0"/>
              <a:t>	 </a:t>
            </a:r>
            <a:r>
              <a:rPr lang="en-US" sz="1800" b="1" dirty="0"/>
              <a:t>- </a:t>
            </a:r>
            <a:r>
              <a:rPr lang="en-US" sz="1800" dirty="0"/>
              <a:t>312</a:t>
            </a:r>
          </a:p>
          <a:p>
            <a:r>
              <a:rPr lang="en-US" sz="1800" dirty="0"/>
              <a:t>	 </a:t>
            </a:r>
            <a:r>
              <a:rPr lang="en-US" sz="1800" b="1" dirty="0"/>
              <a:t>- </a:t>
            </a:r>
            <a:r>
              <a:rPr lang="en-US" sz="1800" dirty="0"/>
              <a:t>321</a:t>
            </a:r>
          </a:p>
          <a:p>
            <a:pPr>
              <a:buNone/>
            </a:pPr>
            <a:r>
              <a:rPr lang="en-US" sz="1800" dirty="0"/>
              <a:t>Total = </a:t>
            </a:r>
            <a:r>
              <a:rPr lang="en-US" sz="1800" b="1" dirty="0"/>
              <a:t>6 permutations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If the order changes, it's considered a </a:t>
            </a:r>
            <a:r>
              <a:rPr lang="en-US" sz="1800" b="1" dirty="0"/>
              <a:t>different</a:t>
            </a:r>
            <a:r>
              <a:rPr lang="en-US" sz="1800" dirty="0"/>
              <a:t> result.</a:t>
            </a:r>
          </a:p>
        </p:txBody>
      </p:sp>
    </p:spTree>
    <p:extLst>
      <p:ext uri="{BB962C8B-B14F-4D97-AF65-F5344CB8AC3E}">
        <p14:creationId xmlns:p14="http://schemas.microsoft.com/office/powerpoint/2010/main" val="2903079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8C42-2ADF-A2DA-227B-4ADCBEC3C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0BABB-E9C3-AFEB-E31E-9CF4CC12F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00" y="214604"/>
            <a:ext cx="8100000" cy="699796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Combination (ORDER does NOT matter)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4C3EA-004E-F984-FD40-F63E9AAD3BC8}"/>
              </a:ext>
            </a:extLst>
          </p:cNvPr>
          <p:cNvSpPr txBox="1"/>
          <p:nvPr/>
        </p:nvSpPr>
        <p:spPr>
          <a:xfrm>
            <a:off x="672318" y="1002089"/>
            <a:ext cx="79496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Definition:</a:t>
            </a:r>
          </a:p>
          <a:p>
            <a:pPr>
              <a:buNone/>
            </a:pPr>
            <a:r>
              <a:rPr lang="en-US" sz="1800" dirty="0"/>
              <a:t>	Combination counts how many ways you can select things when the order is not important.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938459-2AE0-5ECA-7530-275C4439C1A7}"/>
              </a:ext>
            </a:extLst>
          </p:cNvPr>
          <p:cNvSpPr txBox="1"/>
          <p:nvPr/>
        </p:nvSpPr>
        <p:spPr>
          <a:xfrm>
            <a:off x="672318" y="2013109"/>
            <a:ext cx="71845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🎯 Real Example:</a:t>
            </a:r>
          </a:p>
          <a:p>
            <a:r>
              <a:rPr lang="en-US" sz="1800" dirty="0"/>
              <a:t>You have 3 friends: A, B, and C, and you want to pick any </a:t>
            </a:r>
            <a:r>
              <a:rPr lang="en-US" sz="1800" b="1" dirty="0"/>
              <a:t>2 people</a:t>
            </a:r>
            <a:r>
              <a:rPr lang="en-US" sz="1800" dirty="0"/>
              <a:t> for a team.</a:t>
            </a:r>
          </a:p>
          <a:p>
            <a:r>
              <a:rPr lang="en-US" sz="1800" dirty="0"/>
              <a:t>Possible selections (order doesn’t matter):</a:t>
            </a:r>
          </a:p>
          <a:p>
            <a:r>
              <a:rPr lang="en-US" sz="1800" dirty="0"/>
              <a:t>	</a:t>
            </a:r>
            <a:r>
              <a:rPr lang="en-US" sz="1800" b="1" dirty="0"/>
              <a:t>- </a:t>
            </a:r>
            <a:r>
              <a:rPr lang="en-US" sz="1800" dirty="0"/>
              <a:t>AB</a:t>
            </a:r>
          </a:p>
          <a:p>
            <a:r>
              <a:rPr lang="en-US" sz="1800" dirty="0"/>
              <a:t>	</a:t>
            </a:r>
            <a:r>
              <a:rPr lang="en-US" sz="1800" b="1" dirty="0"/>
              <a:t>- </a:t>
            </a:r>
            <a:r>
              <a:rPr lang="en-US" sz="1800" dirty="0"/>
              <a:t>AC</a:t>
            </a:r>
          </a:p>
          <a:p>
            <a:r>
              <a:rPr lang="en-US" sz="1800" dirty="0"/>
              <a:t>	</a:t>
            </a:r>
            <a:r>
              <a:rPr lang="en-US" sz="1800" b="1" dirty="0"/>
              <a:t>- </a:t>
            </a:r>
            <a:r>
              <a:rPr lang="en-US" sz="1800" dirty="0"/>
              <a:t>BC</a:t>
            </a:r>
          </a:p>
          <a:p>
            <a:r>
              <a:rPr lang="en-US" sz="1800" dirty="0"/>
              <a:t>Total = </a:t>
            </a:r>
            <a:r>
              <a:rPr lang="en-US" sz="1800" b="1" dirty="0"/>
              <a:t>3 combinations</a:t>
            </a:r>
            <a:endParaRPr lang="en-US" sz="1800" dirty="0"/>
          </a:p>
          <a:p>
            <a:r>
              <a:rPr lang="en-US" sz="1800" dirty="0"/>
              <a:t>"AB" and "BA" are the same here because the order doesn't matter.</a:t>
            </a:r>
          </a:p>
        </p:txBody>
      </p:sp>
    </p:spTree>
    <p:extLst>
      <p:ext uri="{BB962C8B-B14F-4D97-AF65-F5344CB8AC3E}">
        <p14:creationId xmlns:p14="http://schemas.microsoft.com/office/powerpoint/2010/main" val="237585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8EC9-7908-A159-2F83-FD96DC0E4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00" y="95870"/>
            <a:ext cx="8100000" cy="682669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Permutation &amp; Combination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AD09F1-5947-68D0-B5B6-37BB3017A9B2}"/>
              </a:ext>
            </a:extLst>
          </p:cNvPr>
          <p:cNvSpPr txBox="1"/>
          <p:nvPr/>
        </p:nvSpPr>
        <p:spPr>
          <a:xfrm>
            <a:off x="3798518" y="802788"/>
            <a:ext cx="1546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A B C D</a:t>
            </a:r>
            <a:endParaRPr lang="en-IN" sz="2800"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946FA-70BF-2EED-7DCD-B8FCFDE1F529}"/>
              </a:ext>
            </a:extLst>
          </p:cNvPr>
          <p:cNvSpPr txBox="1"/>
          <p:nvPr/>
        </p:nvSpPr>
        <p:spPr>
          <a:xfrm>
            <a:off x="990590" y="2673863"/>
            <a:ext cx="21168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AB  BA  CA  DA</a:t>
            </a:r>
          </a:p>
          <a:p>
            <a:r>
              <a:rPr lang="en-US" sz="1800" b="1" dirty="0"/>
              <a:t>AC  BC  CB  DB</a:t>
            </a:r>
          </a:p>
          <a:p>
            <a:r>
              <a:rPr lang="en-US" sz="1800" b="1" dirty="0"/>
              <a:t>AD  BD  CD  DC</a:t>
            </a:r>
            <a:endParaRPr lang="en-IN" sz="1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88301-1B7F-36F7-C52D-551EE58B182A}"/>
              </a:ext>
            </a:extLst>
          </p:cNvPr>
          <p:cNvSpPr txBox="1"/>
          <p:nvPr/>
        </p:nvSpPr>
        <p:spPr>
          <a:xfrm>
            <a:off x="1432140" y="2071071"/>
            <a:ext cx="1872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Order Maters</a:t>
            </a:r>
            <a:endParaRPr lang="en-IN" sz="20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933AFD-568F-C621-B2F6-75F7D4BD0F96}"/>
              </a:ext>
            </a:extLst>
          </p:cNvPr>
          <p:cNvSpPr txBox="1"/>
          <p:nvPr/>
        </p:nvSpPr>
        <p:spPr>
          <a:xfrm>
            <a:off x="5362177" y="2600673"/>
            <a:ext cx="21168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AB  BA  CA  DA</a:t>
            </a:r>
          </a:p>
          <a:p>
            <a:r>
              <a:rPr lang="en-US" sz="1800" b="1" dirty="0"/>
              <a:t>AC  BC  CB  DB</a:t>
            </a:r>
          </a:p>
          <a:p>
            <a:r>
              <a:rPr lang="en-US" sz="1800" b="1" dirty="0"/>
              <a:t>AD  BD  CD  DC</a:t>
            </a:r>
            <a:endParaRPr lang="en-IN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6B9F9D-12A2-DBC6-DBD5-38A95171F330}"/>
              </a:ext>
            </a:extLst>
          </p:cNvPr>
          <p:cNvSpPr txBox="1"/>
          <p:nvPr/>
        </p:nvSpPr>
        <p:spPr>
          <a:xfrm>
            <a:off x="5015623" y="2105174"/>
            <a:ext cx="2964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Order does not  Maters</a:t>
            </a:r>
            <a:endParaRPr lang="en-IN" sz="2000" b="1" dirty="0">
              <a:solidFill>
                <a:srgbClr val="FF000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1272CF-D9EF-1567-E3ED-BE0C6B3F3CF0}"/>
              </a:ext>
            </a:extLst>
          </p:cNvPr>
          <p:cNvCxnSpPr>
            <a:cxnSpLocks/>
          </p:cNvCxnSpPr>
          <p:nvPr/>
        </p:nvCxnSpPr>
        <p:spPr>
          <a:xfrm>
            <a:off x="5904970" y="2782300"/>
            <a:ext cx="33820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B7CF33-6F25-EADE-56DD-1203F9E3EB4E}"/>
              </a:ext>
            </a:extLst>
          </p:cNvPr>
          <p:cNvCxnSpPr>
            <a:cxnSpLocks/>
          </p:cNvCxnSpPr>
          <p:nvPr/>
        </p:nvCxnSpPr>
        <p:spPr>
          <a:xfrm>
            <a:off x="5449857" y="3062338"/>
            <a:ext cx="33820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B67355-4600-4207-F0A2-1E1115D67775}"/>
              </a:ext>
            </a:extLst>
          </p:cNvPr>
          <p:cNvCxnSpPr>
            <a:cxnSpLocks/>
          </p:cNvCxnSpPr>
          <p:nvPr/>
        </p:nvCxnSpPr>
        <p:spPr>
          <a:xfrm>
            <a:off x="5910450" y="3329270"/>
            <a:ext cx="33820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61EC6B-9AF1-B0F1-4633-12931155A4EB}"/>
              </a:ext>
            </a:extLst>
          </p:cNvPr>
          <p:cNvCxnSpPr>
            <a:cxnSpLocks/>
          </p:cNvCxnSpPr>
          <p:nvPr/>
        </p:nvCxnSpPr>
        <p:spPr>
          <a:xfrm>
            <a:off x="5449857" y="3329270"/>
            <a:ext cx="33820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BEE8B0-B556-3298-087F-0B899452D811}"/>
              </a:ext>
            </a:extLst>
          </p:cNvPr>
          <p:cNvCxnSpPr>
            <a:cxnSpLocks/>
          </p:cNvCxnSpPr>
          <p:nvPr/>
        </p:nvCxnSpPr>
        <p:spPr>
          <a:xfrm>
            <a:off x="5904970" y="3062338"/>
            <a:ext cx="33820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5CA37AC-09E6-4C77-7F1F-3F1A18D742D6}"/>
              </a:ext>
            </a:extLst>
          </p:cNvPr>
          <p:cNvCxnSpPr>
            <a:cxnSpLocks/>
          </p:cNvCxnSpPr>
          <p:nvPr/>
        </p:nvCxnSpPr>
        <p:spPr>
          <a:xfrm>
            <a:off x="6370524" y="3329270"/>
            <a:ext cx="33820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EFDE77D-7E7C-477E-22FE-F3ACFA20C4F3}"/>
              </a:ext>
            </a:extLst>
          </p:cNvPr>
          <p:cNvSpPr txBox="1"/>
          <p:nvPr/>
        </p:nvSpPr>
        <p:spPr>
          <a:xfrm>
            <a:off x="2975965" y="2974487"/>
            <a:ext cx="713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=  12</a:t>
            </a:r>
            <a:endParaRPr lang="en-IN" sz="1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AE88A7-1258-D594-3C51-B4763367F382}"/>
              </a:ext>
            </a:extLst>
          </p:cNvPr>
          <p:cNvSpPr txBox="1"/>
          <p:nvPr/>
        </p:nvSpPr>
        <p:spPr>
          <a:xfrm>
            <a:off x="7347552" y="2877672"/>
            <a:ext cx="713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=  6</a:t>
            </a:r>
            <a:endParaRPr lang="en-IN" sz="1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5A7047-902E-44AC-59EC-74EE438A8129}"/>
              </a:ext>
            </a:extLst>
          </p:cNvPr>
          <p:cNvSpPr txBox="1"/>
          <p:nvPr/>
        </p:nvSpPr>
        <p:spPr>
          <a:xfrm>
            <a:off x="253648" y="3978521"/>
            <a:ext cx="1546965" cy="1015663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nPr =    n!</a:t>
            </a:r>
          </a:p>
          <a:p>
            <a:r>
              <a:rPr lang="en-US" sz="2000" b="1" dirty="0"/>
              <a:t>       </a:t>
            </a:r>
          </a:p>
          <a:p>
            <a:r>
              <a:rPr lang="en-US" sz="2000" dirty="0"/>
              <a:t>           </a:t>
            </a:r>
            <a:r>
              <a:rPr lang="en-US" sz="2000" b="1" dirty="0"/>
              <a:t>(n-r)!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175EDCF-BE71-92E0-180A-CD14970DB775}"/>
              </a:ext>
            </a:extLst>
          </p:cNvPr>
          <p:cNvCxnSpPr>
            <a:cxnSpLocks/>
          </p:cNvCxnSpPr>
          <p:nvPr/>
        </p:nvCxnSpPr>
        <p:spPr>
          <a:xfrm>
            <a:off x="1060536" y="4486352"/>
            <a:ext cx="743208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D64473A-5C01-A76B-35A8-3E211EA008BA}"/>
              </a:ext>
            </a:extLst>
          </p:cNvPr>
          <p:cNvSpPr txBox="1"/>
          <p:nvPr/>
        </p:nvSpPr>
        <p:spPr>
          <a:xfrm>
            <a:off x="1929006" y="3978521"/>
            <a:ext cx="1740074" cy="101566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nPr  =    4!</a:t>
            </a:r>
          </a:p>
          <a:p>
            <a:r>
              <a:rPr lang="en-US" sz="2000" b="1" dirty="0"/>
              <a:t>       </a:t>
            </a:r>
          </a:p>
          <a:p>
            <a:r>
              <a:rPr lang="en-US" sz="2000" dirty="0"/>
              <a:t>           </a:t>
            </a:r>
            <a:r>
              <a:rPr lang="en-US" sz="2000" b="1" dirty="0"/>
              <a:t>(4-2)!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0F4E1B6-3088-D7CA-A0F2-59DA95AAEE56}"/>
              </a:ext>
            </a:extLst>
          </p:cNvPr>
          <p:cNvCxnSpPr>
            <a:cxnSpLocks/>
          </p:cNvCxnSpPr>
          <p:nvPr/>
        </p:nvCxnSpPr>
        <p:spPr>
          <a:xfrm flipV="1">
            <a:off x="2732759" y="4486352"/>
            <a:ext cx="695198" cy="1046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0B4B762-4D18-752F-01D8-11B07FB28407}"/>
              </a:ext>
            </a:extLst>
          </p:cNvPr>
          <p:cNvSpPr txBox="1"/>
          <p:nvPr/>
        </p:nvSpPr>
        <p:spPr>
          <a:xfrm>
            <a:off x="3669079" y="4301686"/>
            <a:ext cx="713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=  12</a:t>
            </a:r>
            <a:endParaRPr lang="en-IN" sz="18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CC5114-8EAD-64AE-DD2D-8B0EEBA6F8F7}"/>
              </a:ext>
            </a:extLst>
          </p:cNvPr>
          <p:cNvSpPr txBox="1"/>
          <p:nvPr/>
        </p:nvSpPr>
        <p:spPr>
          <a:xfrm>
            <a:off x="4427948" y="3978521"/>
            <a:ext cx="1919610" cy="1015663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nCr</a:t>
            </a:r>
            <a:r>
              <a:rPr lang="en-US" sz="2000" b="1" dirty="0"/>
              <a:t>  =   n!</a:t>
            </a:r>
          </a:p>
          <a:p>
            <a:r>
              <a:rPr lang="en-US" sz="2000" b="1" dirty="0"/>
              <a:t>       </a:t>
            </a:r>
          </a:p>
          <a:p>
            <a:r>
              <a:rPr lang="en-US" sz="2000" dirty="0"/>
              <a:t>           </a:t>
            </a:r>
            <a:r>
              <a:rPr lang="en-US" sz="2000" b="1" dirty="0"/>
              <a:t>(n-r)!r!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F0C02CC-2DED-9C26-9E20-C44C3DDFCE1C}"/>
              </a:ext>
            </a:extLst>
          </p:cNvPr>
          <p:cNvCxnSpPr>
            <a:cxnSpLocks/>
          </p:cNvCxnSpPr>
          <p:nvPr/>
        </p:nvCxnSpPr>
        <p:spPr>
          <a:xfrm flipV="1">
            <a:off x="5243804" y="4476311"/>
            <a:ext cx="917948" cy="2050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53D7128-3F4F-B2F5-965B-4739E23E3270}"/>
              </a:ext>
            </a:extLst>
          </p:cNvPr>
          <p:cNvSpPr txBox="1"/>
          <p:nvPr/>
        </p:nvSpPr>
        <p:spPr>
          <a:xfrm>
            <a:off x="6479080" y="3978521"/>
            <a:ext cx="1999990" cy="1015663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nCr</a:t>
            </a:r>
            <a:r>
              <a:rPr lang="en-US" sz="2000" b="1" dirty="0"/>
              <a:t>  =    4!</a:t>
            </a:r>
          </a:p>
          <a:p>
            <a:r>
              <a:rPr lang="en-US" sz="2000" b="1" dirty="0"/>
              <a:t>       </a:t>
            </a:r>
          </a:p>
          <a:p>
            <a:r>
              <a:rPr lang="en-US" sz="2000" dirty="0"/>
              <a:t>           </a:t>
            </a:r>
            <a:r>
              <a:rPr lang="en-US" sz="2000" b="1" dirty="0"/>
              <a:t>(4-2)!2!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2A5412-3F34-05F8-5D07-FBA81E28228C}"/>
              </a:ext>
            </a:extLst>
          </p:cNvPr>
          <p:cNvCxnSpPr>
            <a:cxnSpLocks/>
          </p:cNvCxnSpPr>
          <p:nvPr/>
        </p:nvCxnSpPr>
        <p:spPr>
          <a:xfrm flipV="1">
            <a:off x="7315194" y="4476311"/>
            <a:ext cx="933188" cy="2092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031DAD9-A81E-5DE1-A993-9068DEE698DD}"/>
              </a:ext>
            </a:extLst>
          </p:cNvPr>
          <p:cNvSpPr txBox="1"/>
          <p:nvPr/>
        </p:nvSpPr>
        <p:spPr>
          <a:xfrm>
            <a:off x="8326591" y="4301686"/>
            <a:ext cx="713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  =  6</a:t>
            </a:r>
            <a:endParaRPr lang="en-IN" sz="1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BB1D75-16FB-A6C6-C97C-D54B034E4BB6}"/>
              </a:ext>
            </a:extLst>
          </p:cNvPr>
          <p:cNvSpPr txBox="1"/>
          <p:nvPr/>
        </p:nvSpPr>
        <p:spPr>
          <a:xfrm>
            <a:off x="3089753" y="1350257"/>
            <a:ext cx="2964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N – Number of Elements = 4</a:t>
            </a:r>
          </a:p>
          <a:p>
            <a:r>
              <a:rPr lang="en-US" b="1" dirty="0">
                <a:solidFill>
                  <a:srgbClr val="0070C0"/>
                </a:solidFill>
              </a:rPr>
              <a:t>R – Number of combinations = 2</a:t>
            </a:r>
            <a:endParaRPr lang="en-IN" b="1" dirty="0">
              <a:solidFill>
                <a:srgbClr val="0070C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724A7E-E81E-AF99-52CB-35BB7E80FB5B}"/>
              </a:ext>
            </a:extLst>
          </p:cNvPr>
          <p:cNvCxnSpPr>
            <a:cxnSpLocks/>
          </p:cNvCxnSpPr>
          <p:nvPr/>
        </p:nvCxnSpPr>
        <p:spPr>
          <a:xfrm flipH="1">
            <a:off x="2191539" y="766975"/>
            <a:ext cx="607504" cy="12925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A076D03-9526-D99D-316C-386CBAD7A357}"/>
              </a:ext>
            </a:extLst>
          </p:cNvPr>
          <p:cNvCxnSpPr>
            <a:cxnSpLocks/>
          </p:cNvCxnSpPr>
          <p:nvPr/>
        </p:nvCxnSpPr>
        <p:spPr>
          <a:xfrm>
            <a:off x="6116089" y="766975"/>
            <a:ext cx="508869" cy="12809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82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16" grpId="0"/>
      <p:bldP spid="18" grpId="0"/>
      <p:bldP spid="19" grpId="0" animBg="1"/>
      <p:bldP spid="22" grpId="0" animBg="1"/>
      <p:bldP spid="24" grpId="0"/>
      <p:bldP spid="25" grpId="0" animBg="1"/>
      <p:bldP spid="27" grpId="0" animBg="1"/>
      <p:bldP spid="29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0C8185-A5B6-8054-A1D8-37AFF8FDB180}"/>
              </a:ext>
            </a:extLst>
          </p:cNvPr>
          <p:cNvSpPr txBox="1"/>
          <p:nvPr/>
        </p:nvSpPr>
        <p:spPr>
          <a:xfrm>
            <a:off x="773206" y="1019641"/>
            <a:ext cx="7920318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i="0" dirty="0">
                <a:solidFill>
                  <a:srgbClr val="0D0D0D"/>
                </a:solidFill>
                <a:effectLst/>
                <a:latin typeface="Söhne"/>
              </a:rPr>
              <a:t>Selecting Fruits</a:t>
            </a:r>
            <a:endParaRPr lang="en-US" sz="16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Imagine you're at a fruit stand and you want to choose a snack consisting of two fruits. You have three options: apples (A), bananas (B), and oranges (O).</a:t>
            </a:r>
          </a:p>
          <a:p>
            <a:pPr algn="l"/>
            <a:endParaRPr lang="en-US" sz="16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sz="1600" b="1" i="0" dirty="0">
                <a:solidFill>
                  <a:schemeClr val="tx1"/>
                </a:solidFill>
                <a:effectLst/>
                <a:latin typeface="Söhne"/>
              </a:rPr>
              <a:t>1.</a:t>
            </a:r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Permutation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: If you want to see all possible arrangements of selecting two fruits, considering different orders, you'd use permutations.</a:t>
            </a:r>
          </a:p>
          <a:p>
            <a:pPr marL="457200" lvl="1" algn="l"/>
            <a:r>
              <a:rPr lang="en-US" sz="1600" b="1" i="0" dirty="0">
                <a:solidFill>
                  <a:srgbClr val="0D0D0D"/>
                </a:solidFill>
                <a:effectLst/>
                <a:latin typeface="Söhne"/>
              </a:rPr>
              <a:t>Permutation of 2 fruits out of 3: 3! / (3-2)! = 3! / 1! = 6</a:t>
            </a:r>
          </a:p>
          <a:p>
            <a:pPr marL="742950" lvl="1" indent="-285750" algn="l">
              <a:buFont typeface="+mj-lt"/>
              <a:buAutoNum type="arabicPeriod"/>
            </a:pPr>
            <a:endParaRPr lang="en-US" sz="16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So, there are </a:t>
            </a:r>
            <a:r>
              <a:rPr lang="en-US" sz="1600" b="1" i="0" dirty="0">
                <a:solidFill>
                  <a:srgbClr val="0D0D0D"/>
                </a:solidFill>
                <a:effectLst/>
                <a:latin typeface="Söhne"/>
              </a:rPr>
              <a:t>6 different ways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you can arrange two fruits </a:t>
            </a:r>
            <a:r>
              <a:rPr lang="en-US" sz="1600" b="1" i="0" dirty="0">
                <a:solidFill>
                  <a:srgbClr val="0D0D0D"/>
                </a:solidFill>
                <a:effectLst/>
                <a:latin typeface="Söhne"/>
              </a:rPr>
              <a:t>(e.g., AB, AO, BA, BO, OA, OB).</a:t>
            </a:r>
          </a:p>
          <a:p>
            <a:pPr algn="l">
              <a:buFont typeface="+mj-lt"/>
              <a:buAutoNum type="arabicPeriod"/>
            </a:pPr>
            <a:endParaRPr lang="en-US" sz="16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sz="1600" b="1" i="0" dirty="0">
                <a:solidFill>
                  <a:schemeClr val="tx1"/>
                </a:solidFill>
                <a:effectLst/>
                <a:latin typeface="Söhne"/>
              </a:rPr>
              <a:t>2.</a:t>
            </a:r>
            <a:r>
              <a:rPr lang="en-US" sz="1600" b="1" i="0" dirty="0">
                <a:solidFill>
                  <a:srgbClr val="FF0000"/>
                </a:solidFill>
                <a:effectLst/>
                <a:latin typeface="Söhne"/>
              </a:rPr>
              <a:t>Combination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: If you're interested in unique combinations of fruits regardless of the order in which you select them, you'd use combinations.</a:t>
            </a:r>
          </a:p>
          <a:p>
            <a:pPr marL="457200" lvl="1" algn="l"/>
            <a:r>
              <a:rPr lang="en-US" sz="1600" b="1" i="0" dirty="0">
                <a:solidFill>
                  <a:srgbClr val="0D0D0D"/>
                </a:solidFill>
                <a:effectLst/>
                <a:latin typeface="Söhne"/>
              </a:rPr>
              <a:t>Combination of 2 fruits out of 3: 3! / [(3-2)! * 2!] = 3! / (1! * 2!) = 3</a:t>
            </a:r>
          </a:p>
          <a:p>
            <a:pPr algn="l"/>
            <a:endParaRPr lang="en-US" sz="16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So, there are </a:t>
            </a:r>
            <a:r>
              <a:rPr lang="en-US" sz="1600" b="1" i="0" dirty="0">
                <a:solidFill>
                  <a:srgbClr val="0D0D0D"/>
                </a:solidFill>
                <a:effectLst/>
                <a:latin typeface="Söhne"/>
              </a:rPr>
              <a:t>3 unique combinations</a:t>
            </a:r>
            <a:r>
              <a:rPr lang="en-US" sz="1600" b="0" i="0" dirty="0">
                <a:solidFill>
                  <a:srgbClr val="0D0D0D"/>
                </a:solidFill>
                <a:effectLst/>
                <a:latin typeface="Söhne"/>
              </a:rPr>
              <a:t> of two fruits </a:t>
            </a:r>
            <a:r>
              <a:rPr lang="en-US" sz="1600" b="1" i="0" dirty="0">
                <a:solidFill>
                  <a:srgbClr val="0D0D0D"/>
                </a:solidFill>
                <a:effectLst/>
                <a:latin typeface="Söhne"/>
              </a:rPr>
              <a:t>(e.g., AB, AO, BO).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C3FA2E-A82B-0DDB-FDC0-67553C7C4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00" y="95870"/>
            <a:ext cx="8100000" cy="682669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</a:t>
            </a:r>
            <a:br>
              <a:rPr lang="en-IN" dirty="0">
                <a:solidFill>
                  <a:schemeClr val="accent1"/>
                </a:solidFill>
              </a:rPr>
            </a:br>
            <a:endParaRPr lang="en-IN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19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49EEE-EDB0-74C9-0F55-3D6E7E03E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00" y="429478"/>
            <a:ext cx="8100000" cy="701656"/>
          </a:xfrm>
        </p:spPr>
        <p:txBody>
          <a:bodyPr/>
          <a:lstStyle/>
          <a:p>
            <a:r>
              <a:rPr lang="en-US" b="1" dirty="0"/>
              <a:t>Usage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DE912-C29A-8085-C515-E04D0C16B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724" y="2090998"/>
            <a:ext cx="3643631" cy="19213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BA3A4B-D685-369E-9D41-08FF99E48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50" y="2090998"/>
            <a:ext cx="3215626" cy="19832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952F90-A5A6-EF28-CE17-5DE5756A7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016" y="1547111"/>
            <a:ext cx="1570473" cy="3657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1F2F7B-D64A-B68C-25C1-B930A14ECC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512" y="1541310"/>
            <a:ext cx="1448002" cy="3715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13384B-5A00-0855-5310-63D973D719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531" y="-1"/>
            <a:ext cx="1819469" cy="34056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577E86-4DB5-4A06-354F-D56A5E8FA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388" y="2090998"/>
            <a:ext cx="3215626" cy="198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23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EE7D8-BAC8-417E-AC66-7CB5549EF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968" y="332779"/>
            <a:ext cx="8100000" cy="73091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Comparison 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5C59A6-342B-E8E3-C271-8D3795D76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531" y="-1"/>
            <a:ext cx="1819469" cy="34056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0CF846-D863-5D43-DF7A-A107E7D52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8" y="1689260"/>
            <a:ext cx="7906853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200747"/>
      </p:ext>
    </p:extLst>
  </p:cSld>
  <p:clrMapOvr>
    <a:masterClrMapping/>
  </p:clrMapOvr>
</p:sld>
</file>

<file path=ppt/theme/theme1.xml><?xml version="1.0" encoding="utf-8"?>
<a:theme xmlns:a="http://schemas.openxmlformats.org/drawingml/2006/main" name="Isometric SEO Strategy by Slidesgo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F3F3F3"/>
      </a:lt2>
      <a:accent1>
        <a:srgbClr val="FFC100"/>
      </a:accent1>
      <a:accent2>
        <a:srgbClr val="000000"/>
      </a:accent2>
      <a:accent3>
        <a:srgbClr val="434343"/>
      </a:accent3>
      <a:accent4>
        <a:srgbClr val="F3F3F3"/>
      </a:accent4>
      <a:accent5>
        <a:srgbClr val="FFC100"/>
      </a:accent5>
      <a:accent6>
        <a:srgbClr val="000000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474</Words>
  <Application>Microsoft Office PowerPoint</Application>
  <PresentationFormat>On-screen Show (16:9)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Cambria</vt:lpstr>
      <vt:lpstr>Söhne</vt:lpstr>
      <vt:lpstr>Libre Franklin</vt:lpstr>
      <vt:lpstr>Arial</vt:lpstr>
      <vt:lpstr>Be Vietnam</vt:lpstr>
      <vt:lpstr>Isometric SEO Strategy by Slidesgo</vt:lpstr>
      <vt:lpstr>Permutation (ORDER matters)</vt:lpstr>
      <vt:lpstr>Combination (ORDER does NOT matter)</vt:lpstr>
      <vt:lpstr>Permutation &amp; Combination </vt:lpstr>
      <vt:lpstr>Example </vt:lpstr>
      <vt:lpstr>Usage</vt:lpstr>
      <vt:lpstr>Comparison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</dc:title>
  <dc:creator>Admin</dc:creator>
  <cp:lastModifiedBy>Rajaneesh kumar</cp:lastModifiedBy>
  <cp:revision>27</cp:revision>
  <dcterms:modified xsi:type="dcterms:W3CDTF">2026-08-09T13:10:34Z</dcterms:modified>
</cp:coreProperties>
</file>